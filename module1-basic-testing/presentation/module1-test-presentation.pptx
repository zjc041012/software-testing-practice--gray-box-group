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05eb3804514f41" /><Relationship Type="http://schemas.openxmlformats.org/officeDocument/2006/relationships/extended-properties" Target="/docProps/app.xml" Id="Rebbe0b3d6c064cb2" /><Relationship Type="http://schemas.openxmlformats.org/officeDocument/2006/relationships/officeDocument" Target="/ppt/presentation.xml" Id="Reab1b4c671bd41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e370e5f1a046aa"/>
  </p:sldMasterIdLst>
  <p:notesMasterIdLst>
    <p:notesMasterId xmlns:r="http://schemas.openxmlformats.org/officeDocument/2006/relationships" r:id="R419b40e3d64f41e8"/>
  </p:notesMasterIdLst>
  <p:sldIdLst>
    <p:sldId xmlns:r="http://schemas.openxmlformats.org/officeDocument/2006/relationships" id="256" r:id="R9693d2be236e4eb2"/>
    <p:sldId xmlns:r="http://schemas.openxmlformats.org/officeDocument/2006/relationships" id="257" r:id="Rcf61f13e59bc46ad"/>
    <p:sldId xmlns:r="http://schemas.openxmlformats.org/officeDocument/2006/relationships" id="258" r:id="R8f2ee86c7b894d7d"/>
    <p:sldId xmlns:r="http://schemas.openxmlformats.org/officeDocument/2006/relationships" id="259" r:id="Re8e2eb24c5014658"/>
    <p:sldId xmlns:r="http://schemas.openxmlformats.org/officeDocument/2006/relationships" id="260" r:id="R22f5ceb937294fbd"/>
    <p:sldId xmlns:r="http://schemas.openxmlformats.org/officeDocument/2006/relationships" id="261" r:id="R8220316203ac4777"/>
    <p:sldId xmlns:r="http://schemas.openxmlformats.org/officeDocument/2006/relationships" id="262" r:id="Rd207cf4e67ea437e"/>
    <p:sldId xmlns:r="http://schemas.openxmlformats.org/officeDocument/2006/relationships" id="263" r:id="R5400e70cea864789"/>
    <p:sldId xmlns:r="http://schemas.openxmlformats.org/officeDocument/2006/relationships" id="264" r:id="R848b28371acd4761"/>
    <p:sldId xmlns:r="http://schemas.openxmlformats.org/officeDocument/2006/relationships" id="265" r:id="Red2b85cde92a4a19"/>
    <p:sldId xmlns:r="http://schemas.openxmlformats.org/officeDocument/2006/relationships" id="266" r:id="R8435901da13c4407"/>
    <p:sldId xmlns:r="http://schemas.openxmlformats.org/officeDocument/2006/relationships" id="267" r:id="R7129104bbb2d4e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42bd1721a94b48" /><Relationship Type="http://schemas.openxmlformats.org/officeDocument/2006/relationships/slideMaster" Target="/ppt/slideMasters/slideMaster1.xml" Id="R73e370e5f1a046aa" /><Relationship Type="http://schemas.openxmlformats.org/officeDocument/2006/relationships/notesMaster" Target="/ppt/notesMasters/notesMaster1.xml" Id="R419b40e3d64f41e8" /><Relationship Type="http://schemas.openxmlformats.org/officeDocument/2006/relationships/presProps" Target="/ppt/presProps.xml" Id="Rdc9b36cd156b4114" /><Relationship Type="http://schemas.openxmlformats.org/officeDocument/2006/relationships/tableStyles" Target="/ppt/tableStyles.xml" Id="R0094bb8232a54d8d" /><Relationship Type="http://schemas.openxmlformats.org/officeDocument/2006/relationships/slide" Target="/ppt/slides/slide1.xml" Id="R9693d2be236e4eb2" /><Relationship Type="http://schemas.openxmlformats.org/officeDocument/2006/relationships/slide" Target="/ppt/slides/slide2.xml" Id="Rcf61f13e59bc46ad" /><Relationship Type="http://schemas.openxmlformats.org/officeDocument/2006/relationships/slide" Target="/ppt/slides/slide3.xml" Id="R8f2ee86c7b894d7d" /><Relationship Type="http://schemas.openxmlformats.org/officeDocument/2006/relationships/slide" Target="/ppt/slides/slide4.xml" Id="Re8e2eb24c5014658" /><Relationship Type="http://schemas.openxmlformats.org/officeDocument/2006/relationships/slide" Target="/ppt/slides/slide5.xml" Id="R22f5ceb937294fbd" /><Relationship Type="http://schemas.openxmlformats.org/officeDocument/2006/relationships/slide" Target="/ppt/slides/slide6.xml" Id="R8220316203ac4777" /><Relationship Type="http://schemas.openxmlformats.org/officeDocument/2006/relationships/slide" Target="/ppt/slides/slide7.xml" Id="Rd207cf4e67ea437e" /><Relationship Type="http://schemas.openxmlformats.org/officeDocument/2006/relationships/slide" Target="/ppt/slides/slide8.xml" Id="R5400e70cea864789" /><Relationship Type="http://schemas.openxmlformats.org/officeDocument/2006/relationships/slide" Target="/ppt/slides/slide9.xml" Id="R848b28371acd4761" /><Relationship Type="http://schemas.openxmlformats.org/officeDocument/2006/relationships/slide" Target="/ppt/slides/slide10.xml" Id="Red2b85cde92a4a19" /><Relationship Type="http://schemas.openxmlformats.org/officeDocument/2006/relationships/slide" Target="/ppt/slides/slide11.xml" Id="R8435901da13c4407" /><Relationship Type="http://schemas.openxmlformats.org/officeDocument/2006/relationships/slide" Target="/ppt/slides/slide12.xml" Id="R7129104bbb2d4e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1630133c6242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a57e028bcc4ba8" /><Relationship Type="http://schemas.openxmlformats.org/officeDocument/2006/relationships/notesMaster" Target="/ppt/notesMasters/notesMaster1.xml" Id="R5f4e0057abe047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a70846cb4d4c48" /><Relationship Type="http://schemas.openxmlformats.org/officeDocument/2006/relationships/notesMaster" Target="/ppt/notesMasters/notesMaster1.xml" Id="R2315006d183a49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8c037f45eb46e9" /><Relationship Type="http://schemas.openxmlformats.org/officeDocument/2006/relationships/notesMaster" Target="/ppt/notesMasters/notesMaster1.xml" Id="R5550151544e84f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4c92cf409a4b24" /><Relationship Type="http://schemas.openxmlformats.org/officeDocument/2006/relationships/notesMaster" Target="/ppt/notesMasters/notesMaster1.xml" Id="Rfbf8627513c642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91d669442e4a1a" /><Relationship Type="http://schemas.openxmlformats.org/officeDocument/2006/relationships/notesMaster" Target="/ppt/notesMasters/notesMaster1.xml" Id="R8ab0081f047244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3a57d709844a13" /><Relationship Type="http://schemas.openxmlformats.org/officeDocument/2006/relationships/notesMaster" Target="/ppt/notesMasters/notesMaster1.xml" Id="Rb2f190484d884f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4d7c24d61a477d" /><Relationship Type="http://schemas.openxmlformats.org/officeDocument/2006/relationships/notesMaster" Target="/ppt/notesMasters/notesMaster1.xml" Id="Rb17df3798c6b4b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116fa65e4c49a7" /><Relationship Type="http://schemas.openxmlformats.org/officeDocument/2006/relationships/notesMaster" Target="/ppt/notesMasters/notesMaster1.xml" Id="R229e05ba2c334c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4b7c978c6447bd" /><Relationship Type="http://schemas.openxmlformats.org/officeDocument/2006/relationships/notesMaster" Target="/ppt/notesMasters/notesMaster1.xml" Id="R890aa97a560243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50bf36094aa498a" /><Relationship Type="http://schemas.openxmlformats.org/officeDocument/2006/relationships/notesMaster" Target="/ppt/notesMasters/notesMaster1.xml" Id="R0ea7ab959e4340e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c5dd47273543df" /><Relationship Type="http://schemas.openxmlformats.org/officeDocument/2006/relationships/notesMaster" Target="/ppt/notesMasters/notesMaster1.xml" Id="R00b20443efd848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6159a526ed4179" /><Relationship Type="http://schemas.openxmlformats.org/officeDocument/2006/relationships/notesMaster" Target="/ppt/notesMasters/notesMaster1.xml" Id="Rcb88bfa0cd6740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项目名称与成员信息。内容依据课程要求和仓库中的模块一测试资料整理。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被测代码来源：module1-basic-testing/sut/README.md；核心功能描述来自被测项目现有代码和课程测试范围。系统真实页面功能在毕设系统视频中展示，课程项目负责自动化验证。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范围依据 module1-basic-testing/README.md、测试用例清单和测试报告。外部依赖 Mock 隔离，真实前端和真实 Fabric 网络不属于本轮自动化验证边界。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测试方法来源：module1-basic-testing/docs/test-cases.xlsx；策略说明与测试报告第 2、3 节一致。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来源：module1-basic-testing/docs/test-cases.xlsx。文件统计为 32 条用例，认证与访问控制 23 条，跨链任务状态控制 9 条；设计方法统计为等价类 22、边界值 3、场景法 6、状态转换 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来源：module1-basic-testing/tests/pom.xml、tests/README.md 和 CrossChainServiceTest.java。代码结构和测试框架均来自仓库现有文件。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来源：module1-basic-testing/evidence/baseline-32.log。该日志记录 32 条常规自动化测试全部通过。终端区域依据真实日志中的 Maven 汇总信息整理。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来源：module1-basic-testing/evidence/defect-probes/D-001.log、D-002.log、D-003.log 及正式缺陷报告。D-003 的发现人为 Zhang Yang。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来源：D-001TargetFailureProbeTest.java 与 evidence/defect-probes/D-001.log。日志观察值为 actualTaskStatus=CONFIRMED actualReceiptStatus=FAILED，断言期望 FAILED。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来源：D003BlankHashProbeTest.java、D-003.log。D-003 由 Zhang Yang 发现；报告将其记录为已确认、未修复、未关闭。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结论依据 baseline-32.log、三项缺陷探测日志和正式测试报告。报告明确记录三个缺陷尚未修复、尚未关闭。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成员贡献依据用户提供的分工要求：Zhu Jiacheng 70%，Zhang Yang 30%；Zhang Yang 主要完成 PPT、部分代码优化并发现 D-003。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eef18dc6a48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d620b2ad7a4193" /><Relationship Type="http://schemas.openxmlformats.org/officeDocument/2006/relationships/slideLayout" Target="/ppt/slideLayouts/slideLayout1.xml" Id="R13e959b342de4d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e959b342de4d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8d360ac46f4045" /><Relationship Type="http://schemas.openxmlformats.org/officeDocument/2006/relationships/notesSlide" Target="/ppt/notesSlides/notesSlide1.xml" Id="Rfe18796c455d45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f7b0f81014002" /><Relationship Type="http://schemas.openxmlformats.org/officeDocument/2006/relationships/notesSlide" Target="/ppt/notesSlides/notesSlide2.xml" Id="Rc50b009f0d1a43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5a8f5fa1e43fd" /><Relationship Type="http://schemas.openxmlformats.org/officeDocument/2006/relationships/notesSlide" Target="/ppt/notesSlides/notesSlide3.xml" Id="R0cb1e69ddfe546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b1590166f14d4a" /><Relationship Type="http://schemas.openxmlformats.org/officeDocument/2006/relationships/notesSlide" Target="/ppt/notesSlides/notesSlide4.xml" Id="R2dabfdf53bcc4d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34add392a4af6" /><Relationship Type="http://schemas.openxmlformats.org/officeDocument/2006/relationships/chart" Target="/ppt/slides/charts/chart1.xml" Id="R521c4cddcb2545a0" /><Relationship Type="http://schemas.openxmlformats.org/officeDocument/2006/relationships/notesSlide" Target="/ppt/notesSlides/notesSlide5.xml" Id="R37d04cf24cdb4db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8d40997514255" /><Relationship Type="http://schemas.openxmlformats.org/officeDocument/2006/relationships/notesSlide" Target="/ppt/notesSlides/notesSlide6.xml" Id="R6ad7f53711a14c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a5b1ca7324beb" /><Relationship Type="http://schemas.openxmlformats.org/officeDocument/2006/relationships/notesSlide" Target="/ppt/notesSlides/notesSlide7.xml" Id="Rd41e6150a75a44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b303e9a9b4533" /><Relationship Type="http://schemas.openxmlformats.org/officeDocument/2006/relationships/notesSlide" Target="/ppt/notesSlides/notesSlide8.xml" Id="R8bc632b757cb40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7ae7abc5746be" /><Relationship Type="http://schemas.openxmlformats.org/officeDocument/2006/relationships/notesSlide" Target="/ppt/notesSlides/notesSlide9.xml" Id="Rb33dc134f2d641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1e3deec9ff4c5a" /><Relationship Type="http://schemas.openxmlformats.org/officeDocument/2006/relationships/notesSlide" Target="/ppt/notesSlides/notesSlide10.xml" Id="Rb468c0c4558f41d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1e63303d30492a" /><Relationship Type="http://schemas.openxmlformats.org/officeDocument/2006/relationships/notesSlide" Target="/ppt/notesSlides/notesSlide11.xml" Id="R6d742b77ed23439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07887a9ee4531" /><Relationship Type="http://schemas.openxmlformats.org/officeDocument/2006/relationships/notesSlide" Target="/ppt/notesSlides/notesSlide12.xml" Id="Rdf96c963996e493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用例数</c:v>
          </c:tx>
          <c:spPr>
            <a:solidFill xmlns:a="http://schemas.openxmlformats.org/drawingml/2006/main">
              <a:srgbClr val="1F6FEB"/>
            </a:solidFill>
          </c:spPr>
          <c:cat>
            <c:strRef>
              <c:f>'Chart Data'!$A$2:$A$3</c:f>
              <c:strCache>
                <c:ptCount val="2"/>
                <c:pt idx="0">
                  <c:v>认证与访问控制</c:v>
                </c:pt>
                <c:pt idx="1">
                  <c:v>跨链任务状态控制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23</c:v>
                </c:pt>
                <c:pt idx="1">
                  <c:v>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F4641A-5755-475E-93CB-FE24DA85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11049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B5D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00D7F-3E0C-4FFD-A496-EC2FD8E5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335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 i="0">
                <a:solidFill>
                  <a:srgbClr val="B8E8F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B8E8F1"/>
                </a:solidFill>
                <a:latin typeface="Arial"/>
                <a:ea typeface="Arial"/>
                <a:cs typeface="Arial"/>
              </a:rPr>
              <a:t>软件测试与质量保证实践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E1AE2F-6089-4223-A408-09C7976A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952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国际联运单跨链协同平台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95C3C9-29DC-4E55-9902-BF6C557D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模块一成果汇报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582B7-2369-4BD1-8CB4-0F63D14C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3810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D9E2EC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9E2EC"/>
                </a:solidFill>
                <a:latin typeface="Arial"/>
                <a:ea typeface="Arial"/>
                <a:cs typeface="Arial"/>
              </a:rPr>
              <a:t>Zhu Jiacheng  70%</a:t>
            </a:r>
          </a:p>
          <a:p xmlns:a="http://schemas.openxmlformats.org/drawingml/2006/main">
            <a:pPr>
              <a:defRPr sz="1350" b="0" i="0">
                <a:solidFill>
                  <a:srgbClr val="D9E2EC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9E2EC"/>
                </a:solidFill>
                <a:latin typeface="Arial"/>
                <a:ea typeface="Arial"/>
                <a:cs typeface="Arial"/>
              </a:rPr>
              <a:t>Zhang Yang  30%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61EFF-C3D0-4D5D-A492-69F71BC9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531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 i="0">
                <a:solidFill>
                  <a:srgbClr val="9FB3C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3C8"/>
                </a:solidFill>
                <a:latin typeface="Arial"/>
                <a:ea typeface="Arial"/>
                <a:cs typeface="Arial"/>
              </a:rPr>
              <a:t>认证与访问控制 · 跨链任务状态控制</a:t>
            </a:r>
          </a:p>
        </p:txBody>
      </p:sp>
    </p:spTree>
    <p:extLst>
      <p:ext uri="{BB962C8B-B14F-4D97-AF65-F5344CB8AC3E}">
        <p14:creationId xmlns:p14="http://schemas.microsoft.com/office/powerpoint/2010/main" val="10371125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61E318-B77C-47CE-AF19-0BF4FA98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模块一｜传统软件测试实践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954B55-551D-40D2-8E4D-F7CDC5F2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被测对象与核心功能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ED82CF-570B-46CF-BEC6-B90D3B8F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D01BC-99A2-4556-BC91-838D4374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E7FF17-E608-4111-90DA-6FBEC0D0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被测对象是国际联运单跨链协同平台。本次展示关注用户进入系统后的身份建立、权限决策和跨链任务状态控制。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723900" y="2343150"/>
          <a:ext xmlns:a="http://schemas.openxmlformats.org/drawingml/2006/main" cx="72390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5810250"/>
              </a:tblGrid>
              <a:tr h="619125">
                <a:tc>
                  <a:txBody>
                    <a:bodyPr/>
                    <a:lstStyle/>
                    <a:p>
                      <a:r>
                        <a:t>功能层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核心路径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t>认证入口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登录、JWT 签发、Bearer 过滤、SecurityContext 建立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t>访问控制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角色、组织与运单托运人关系决定访问是否允许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t>跨链任务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前置检查、创建、执行、回执、核验、retry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07C43F-8A76-4068-8135-52920F9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00300"/>
            <a:ext cx="2857500" cy="1181100"/>
          </a:xfrm>
          <a:prstGeom xmlns:a="http://schemas.openxmlformats.org/drawingml/2006/main" prst="roundRect">
            <a:avLst>
              <a:gd name="adj" fmla="val 14516"/>
            </a:avLst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9E2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课程视频展示</a:t>
            </a:r>
          </a:p>
          <a:p xmlns:a="http://schemas.openxmlformats.org/drawingml/2006/main">
            <a:pPr>
              <a:defRPr sz="142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使用毕设视频中的登录、权限和跨链任务片段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752BEF-7729-4F52-80AD-BD290214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67150"/>
            <a:ext cx="2857500" cy="1181100"/>
          </a:xfrm>
          <a:prstGeom xmlns:a="http://schemas.openxmlformats.org/drawingml/2006/main" prst="roundRect">
            <a:avLst>
              <a:gd name="adj" fmla="val 14516"/>
            </a:avLst>
          </a:prstGeom>
          <a:solidFill xmlns:a="http://schemas.openxmlformats.org/drawingml/2006/main">
            <a:srgbClr val="E8F5FA"/>
          </a:solidFill>
          <a:ln xmlns:a="http://schemas.openxmlformats.org/drawingml/2006/main" w="9525">
            <a:solidFill>
              <a:srgbClr val="B8E8F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测试工程展示</a:t>
            </a:r>
          </a:p>
          <a:p xmlns:a="http://schemas.openxmlformats.org/drawingml/2006/main">
            <a:pPr>
              <a:defRPr sz="142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对选定生产代码快照运行 JUnit 自动化测试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D7A569-CD7F-4BAE-A4A8-72C7C1E83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EB0782-814F-4D0A-8CEA-2E6C3802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Software-Testing-Practice--Gray-Box-Group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88DC54-D84A-4D6E-B4B5-A1410A85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10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Zhu Jiacheng · Zhang Yang</a:t>
            </a:r>
          </a:p>
        </p:txBody>
      </p:sp>
    </p:spTree>
    <p:extLst>
      <p:ext uri="{BB962C8B-B14F-4D97-AF65-F5344CB8AC3E}">
        <p14:creationId xmlns:p14="http://schemas.microsoft.com/office/powerpoint/2010/main" val="15158520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D20B5F-E6F7-4AC8-855A-20773C9B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模块一｜传统软件测试实践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CB8F1-2F58-4051-BE4E-D4F7B26F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测试范围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A1EAE-7CE8-4083-8601-496EB4F8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7F5C8-AAC4-4A4B-AA54-2C8282E4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DAFA6-8782-4B18-BBDD-B7292F17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本轮测试选择可由服务层重复执行和稳定验证的关键业务规则。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723900" y="2095500"/>
          <a:ext xmlns:a="http://schemas.openxmlformats.org/drawingml/2006/main" cx="106680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286250"/>
                <a:gridCol w="4381500"/>
              </a:tblGrid>
              <a:tr h="590550">
                <a:tc>
                  <a:txBody>
                    <a:bodyPr/>
                    <a:lstStyle/>
                    <a:p>
                      <a:r>
                        <a:t>范围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验证内容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代表性结果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认证与访问控制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登录、JWT 签发与校验、非法/过期 Token、Bearer 过滤、角色与组织权限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23 条用例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跨链任务状态控制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前置检查、任务创建、执行回执、失败处理、核验、retry 幂等性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9 条用例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本轮未覆盖</a:t>
                      </a:r>
                    </a:p>
                  </a:txBody>
                  <a:tcPr marL="91440" marR="91440" marT="45720" marB="45720"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前端 UI、真实 MySQL、真实 Fabric 网络、性能与渗透测试</a:t>
                      </a:r>
                    </a:p>
                  </a:txBody>
                  <a:tcPr marL="91440" marR="91440" marT="45720" marB="45720"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不纳入常规自动化</a:t>
                      </a:r>
                    </a:p>
                  </a:txBody>
                  <a:tcPr marL="91440" marR="91440" marT="45720" marB="45720">
                    <a:solidFill>
                      <a:srgbClr val="FFF8E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验证边界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测试代码编译相邻 sut 快照，外部依赖通过 Mockito 隔离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无需启动完整网络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CB125-6904-49E8-BEF6-051155487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SUT 快照位于 module1-basic-testing/sut，原毕设系统源文件保持不变。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208633-637B-4C71-9C9E-ADF10F88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764890-265B-438E-B2EC-2D9ABE23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Software-Testing-Practice--Gray-Box-Group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AF9E2D-44F1-43DB-8901-8205816A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10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Zhu Jiacheng · Zhang Yang</a:t>
            </a:r>
          </a:p>
        </p:txBody>
      </p:sp>
    </p:spTree>
    <p:extLst>
      <p:ext uri="{BB962C8B-B14F-4D97-AF65-F5344CB8AC3E}">
        <p14:creationId xmlns:p14="http://schemas.microsoft.com/office/powerpoint/2010/main" val="14676483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4BC554-E1B3-4D6F-9968-8D617DF8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模块一｜传统软件测试实践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6FAE6-CA27-4CA9-A3C1-20329184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测试策略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1CB8F-BFF6-44CE-9C36-541601AE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68C23F-B91C-4107-861F-9678B157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676BF5-8B12-4618-865F-CF8550F5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传统测试方法先从需求和代码规则出发，再用自动化执行验证。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70EEB-83EC-4FDE-B9C6-A78419FD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55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8F481B-263D-4B15-BFC0-14EA331B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1145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等价类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9D503C-5BD2-42D3-8B87-08A59170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43125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合法登录、未知用户、错误密码、无效 Token 等代表性输入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D40B5D-1AD3-47E8-ACB4-C7D36B33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667000"/>
            <a:ext cx="9086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EF712C-8171-48A0-8E0D-7429A9FA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55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9E7BF-38CA-43C1-A4D9-0F19B504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908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边界值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AE900B-0E0E-4167-84EB-E1476264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19425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过期时间前一秒、当前秒、后一秒；检查比较符号边界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392A2A-BF9D-41D3-A430-8B6DEAEE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543300"/>
            <a:ext cx="9086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7E8BCD-E44C-456D-94A8-4927409E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55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81E2A-31D6-42BF-8638-95F315E0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8671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场景法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E048BC-F34C-4608-A65B-E8F2BDEA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895725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登录后访问受保护资源；创建任务后执行并核验状态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B2A34-5D14-47E1-AA79-DB62B63E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19600"/>
            <a:ext cx="9086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487B2C-A387-46DC-B641-084E42A9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43450"/>
            <a:ext cx="55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4F6FDA-374A-465A-B4D2-B23BC448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434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状态转换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495D2C-F4E9-46A2-A40B-3AA306FB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72025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CREATED / VERIFIED / CONFIRMED / FAILED，检查 retry 行为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B5119-0A7F-400F-87DB-C47F9FB1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295900"/>
            <a:ext cx="9086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B30533-6FF3-42B8-8AFE-4D055196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策略组合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A907CA-DF3F-4E23-9CE7-4F5583F3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6197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输入分类保证代表性，边界值抓临界判断，场景法覆盖业务链路，状态转换法检查任务状态的一致性。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841D41-2B44-490E-9EAD-0201C65B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DAF631-66B8-4979-B322-7190788B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Software-Testing-Practice--Gray-Box-Group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9057AA-CBE0-4CEE-BEEF-4B0C1820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10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Zhu Jiacheng · Zhang Yang</a:t>
            </a:r>
          </a:p>
        </p:txBody>
      </p:sp>
    </p:spTree>
    <p:extLst>
      <p:ext uri="{BB962C8B-B14F-4D97-AF65-F5344CB8AC3E}">
        <p14:creationId xmlns:p14="http://schemas.microsoft.com/office/powerpoint/2010/main" val="6931313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51B815-4C45-46F2-BD3F-348E9924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模块一｜传统软件测试实践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88DA96-F9B3-40E0-8648-7DABD3BA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测试用例设计结果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4CB86-B607-4F7D-B767-C312145A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7B825-3652-4856-9B40-F5C6AFFA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79F8BD-7A4E-49C7-9B8D-FF4B6807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32 条用例覆盖两类关键规则，全部纳入自动化执行。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723900" y="2095500"/>
          <a:ext xmlns:a="http://schemas.openxmlformats.org/drawingml/2006/main" cx="5143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21c4cddcb2545a0"/>
          </a:graphicData>
        </a:graphic>
      </p:graphicFrame>
      <p:graphicFrame>
        <p:nvGraphicFramePr>
          <p:cNvPr id="18" name=""/>
          <p:cNvGraphicFramePr/>
          <p:nvPr/>
        </p:nvGraphicFramePr>
        <p:xfrm>
          <a:off xmlns:a="http://schemas.openxmlformats.org/drawingml/2006/main" x="6477000" y="2095500"/>
          <a:ext xmlns:a="http://schemas.openxmlformats.org/drawingml/2006/main" cx="49149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1428750"/>
                <a:gridCol w="1485900"/>
              </a:tblGrid>
              <a:tr h="590550">
                <a:tc>
                  <a:txBody>
                    <a:bodyPr/>
                    <a:lstStyle/>
                    <a:p>
                      <a:r>
                        <a:t>设计方法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用例数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自动化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等价类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边界值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场景法 / 状态转换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t>合计</a:t>
                      </a:r>
                    </a:p>
                  </a:txBody>
                  <a:tcPr marL="91440" marR="91440" marT="45720" marB="45720">
                    <a:solidFill>
                      <a:srgbClr val="E8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</a:t>
                      </a:r>
                    </a:p>
                  </a:txBody>
                  <a:tcPr marL="91440" marR="91440" marT="45720" marB="45720">
                    <a:solidFill>
                      <a:srgbClr val="E8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32（100%）</a:t>
                      </a:r>
                    </a:p>
                  </a:txBody>
                  <a:tcPr marL="91440" marR="91440" marT="45720" marB="45720">
                    <a:solidFill>
                      <a:srgbClr val="E8F7F1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7FB9D9-CA98-4F0A-9717-AD31D9C4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数字来源：测试用例清单 Excel；图表和表格均为 PPT 可编辑对象。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200E6-A3E8-4139-84B9-EA2BC2A0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7E849-02F6-456C-9486-C316005D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Software-Testing-Practice--Gray-Box-Group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AE6CF-6802-41F3-B130-2CF55F60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10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Zhu Jiacheng · Zhang Yang</a:t>
            </a:r>
          </a:p>
        </p:txBody>
      </p:sp>
    </p:spTree>
    <p:extLst>
      <p:ext uri="{BB962C8B-B14F-4D97-AF65-F5344CB8AC3E}">
        <p14:creationId xmlns:p14="http://schemas.microsoft.com/office/powerpoint/2010/main" val="14901701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D49F9A-366D-4295-9EE3-4ADEAE10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模块一｜传统软件测试实践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03EBAD-6C6C-4526-9B7A-EA3F1FF5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自动化测试实现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76A1B9-C6EB-4327-B797-D9981DAF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5DEC9-A5DB-44A8-8740-31FD6D45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2C56A-7714-4887-AB98-ED372CFD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独立 Maven 工程直接编译相邻 sut 快照，测试代码使用 Mock 隔离外部依赖。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BF751-8905-4B3B-8B7C-87E249D1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1619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JUnit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A2571-CA6E-4E66-9021-465413A5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90750"/>
            <a:ext cx="1619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F6F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Mockito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9E97B-6847-442E-85FB-41A6A2F0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190750"/>
            <a:ext cx="1619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3B5D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Maven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CBD06-723E-4211-B0A8-D125C2E3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190750"/>
            <a:ext cx="1619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63B5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选定 SUT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FFE06C-35A0-4DD3-9F12-AC047579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1619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B7E4D4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087F5B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87F5B"/>
                </a:solidFill>
                <a:latin typeface="Arial"/>
                <a:ea typeface="Arial"/>
                <a:cs typeface="Arial"/>
              </a:rPr>
              <a:t>32 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0BEFA-FDB9-4F54-A420-7799197F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400050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9E2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module1-basic-testing/</a:t>
            </a:r>
          </a:p>
          <a:p xmlns:a="http://schemas.openxmlformats.org/drawingml/2006/main">
            <a:pPr>
              <a:defRPr sz="13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├── sut/src/main/java        被测代码快照</a:t>
            </a:r>
          </a:p>
          <a:p xmlns:a="http://schemas.openxmlformats.org/drawingml/2006/main">
            <a:pPr>
              <a:defRPr sz="13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├── tests/src/test/java      常规测试</a:t>
            </a:r>
          </a:p>
          <a:p xmlns:a="http://schemas.openxmlformats.org/drawingml/2006/main">
            <a:pPr>
              <a:defRPr sz="13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├── tests/src/defect-probes  缺陷探测</a:t>
            </a:r>
          </a:p>
          <a:p xmlns:a="http://schemas.openxmlformats.org/drawingml/2006/main">
            <a:pPr>
              <a:defRPr sz="13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└── evidence/                执行日志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4721DA-C225-47E5-A855-13213AF1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3337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一次典型测试的四步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378D3B-A0CE-4D9F-9EC6-B337930D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52850"/>
            <a:ext cx="45720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准备任务与 Mock 回执</a:t>
            </a:r>
          </a:p>
          <a:p xmlns:a="http://schemas.openxmlformats.org/drawingml/2006/main">
            <a:pPr>
              <a:defRPr sz="1575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调用 execute 两次</a:t>
            </a:r>
          </a:p>
          <a:p xmlns:a="http://schemas.openxmlformats.org/drawingml/2006/main">
            <a:pPr>
              <a:defRPr sz="1575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断言任务状态</a:t>
            </a:r>
          </a:p>
          <a:p xmlns:a="http://schemas.openxmlformats.org/drawingml/2006/main">
            <a:pPr>
              <a:defRPr sz="1575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verify 目标链接收仅调用一次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999991-D566-407C-BD68-C0F28D72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962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外部 MySQL、当前用户、操作日志和 FabricGateway 均在服务边界 Mock。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BFCF13-F152-4C18-89CE-54AFAA53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1E88DC-295A-4034-85D3-14D9C602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Software-Testing-Practice--Gray-Box-Group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A783FF-515D-4809-81B2-724E5DD8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10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Zhu Jiacheng · Zhang Yang</a:t>
            </a:r>
          </a:p>
        </p:txBody>
      </p:sp>
    </p:spTree>
    <p:extLst>
      <p:ext uri="{BB962C8B-B14F-4D97-AF65-F5344CB8AC3E}">
        <p14:creationId xmlns:p14="http://schemas.microsoft.com/office/powerpoint/2010/main" val="6927715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CBCCD7-A3BD-4F98-9D9C-4D353FA3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模块一｜传统软件测试实践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81AD8-3BEA-4316-BD13-203E4CDC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自动化测试执行结果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7A969-6D91-4DBE-8BF7-3F65BA7F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36758-D6A9-496A-82A3-67C825DB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71C61-6CD8-4295-BE5C-5A8C17CF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现场运行入口：bash ./run-tests.sh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7AF028-B696-4A78-ADBA-8E3A1AFF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2190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B19B1-4907-4D21-AD64-8033ECE2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常规用例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BFB493-D15C-49CD-9228-EA13ED79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05050"/>
            <a:ext cx="2190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50" b="1" i="0">
                <a:solidFill>
                  <a:srgbClr val="087F5B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87F5B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2AA48D-6639-471B-BB20-C0BADB41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718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自动化率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610EA-6489-4AD2-9A2C-21D84563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43100"/>
            <a:ext cx="4762500" cy="2628900"/>
          </a:xfrm>
          <a:prstGeom xmlns:a="http://schemas.openxmlformats.org/drawingml/2006/main" prst="roundRect">
            <a:avLst>
              <a:gd name="adj" fmla="val 507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D6F5E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F5E9"/>
                </a:solidFill>
                <a:latin typeface="Arial"/>
                <a:ea typeface="Arial"/>
                <a:cs typeface="Arial"/>
              </a:rPr>
              <a:t>TEST EXECUTION</a:t>
            </a:r>
          </a:p>
          <a:p xmlns:a="http://schemas.openxmlformats.org/drawingml/2006/main">
            <a:pPr>
              <a:defRPr sz="1650" b="0" i="0">
                <a:solidFill>
                  <a:srgbClr val="D6F5E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F5E9"/>
                </a:solidFill>
                <a:latin typeface="Arial"/>
                <a:ea typeface="Arial"/>
                <a:cs typeface="Arial"/>
              </a:rPr>
              <a:t>&gt; mvn clean 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 i="0">
                <a:solidFill>
                  <a:srgbClr val="D6F5E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F5E9"/>
                </a:solidFill>
                <a:latin typeface="Arial"/>
                <a:ea typeface="Arial"/>
                <a:cs typeface="Arial"/>
              </a:rPr>
              <a:t>Tests run: 32, Failures: 0</a:t>
            </a:r>
          </a:p>
          <a:p xmlns:a="http://schemas.openxmlformats.org/drawingml/2006/main">
            <a:pPr>
              <a:defRPr sz="1650" b="0" i="0">
                <a:solidFill>
                  <a:srgbClr val="D6F5E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F5E9"/>
                </a:solidFill>
                <a:latin typeface="Arial"/>
                <a:ea typeface="Arial"/>
                <a:cs typeface="Arial"/>
              </a:rPr>
              <a:t>Errors: 0, Skipped: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 i="0">
                <a:solidFill>
                  <a:srgbClr val="D6F5E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F5E9"/>
                </a:solidFill>
                <a:latin typeface="Arial"/>
                <a:ea typeface="Arial"/>
                <a:cs typeface="Arial"/>
              </a:rPr>
              <a:t>BUILD SUCCESS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E3366-B85E-4574-8882-A668D294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B7E4D4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常规自动化基线通过。缺陷探测单独运行，不计入 32 条常规用例通过率。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574C6C-3AED-4A28-9707-D1604B1A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原始执行日志：evidence/baseline-32.log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19F48E-50FB-4355-BDF0-04F0C9A9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1E0B71-517C-4D18-8E45-83E0D774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Software-Testing-Practice--Gray-Box-Group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1DA432-9272-4E94-B1A5-53FAD282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10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Zhu Jiacheng · Zhang Yang</a:t>
            </a:r>
          </a:p>
        </p:txBody>
      </p:sp>
    </p:spTree>
    <p:extLst>
      <p:ext uri="{BB962C8B-B14F-4D97-AF65-F5344CB8AC3E}">
        <p14:creationId xmlns:p14="http://schemas.microsoft.com/office/powerpoint/2010/main" val="164461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DC7026-8037-436D-AA6A-431770C4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模块一｜传统软件测试实践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0E2C47-364B-4F23-A9C4-8AC2DF17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缺陷发现与证据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622CA-DE33-481B-BA12-EBD1BD3C4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00887-947B-45EE-84FA-463F6083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C0F9C-21E2-4B58-A9C1-C855374E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常规测试通过后，使用独立探测用例检查异常输入和失败回执。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723900" y="2095500"/>
          <a:ext xmlns:a="http://schemas.openxmlformats.org/drawingml/2006/main" cx="106680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4191000"/>
                <a:gridCol w="2190750"/>
                <a:gridCol w="3143250"/>
              </a:tblGrid>
              <a:tr h="695325">
                <a:tc>
                  <a:txBody>
                    <a:bodyPr/>
                    <a:lstStyle/>
                    <a:p>
                      <a:r>
                        <a:t>编号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现象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严重程度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证据</a:t>
                      </a:r>
                    </a:p>
                  </a:txBody>
                  <a:tcPr marL="91440" marR="91440" marT="45720" marB="45720"/>
                </a:tc>
              </a:tr>
              <a:tr h="695325">
                <a:tc>
                  <a:txBody>
                    <a:bodyPr/>
                    <a:lstStyle/>
                    <a:p>
                      <a:r>
                        <a:t>D-001</a:t>
                      </a:r>
                    </a:p>
                  </a:txBody>
                  <a:tcPr marL="91440" marR="91440" marT="45720" marB="45720">
                    <a:solidFill>
                      <a:srgbClr val="FFF1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目标链回执 FAILED，任务仍为 CONFIRMED</a:t>
                      </a:r>
                    </a:p>
                  </a:txBody>
                  <a:tcPr marL="91440" marR="91440" marT="45720" marB="45720">
                    <a:solidFill>
                      <a:srgbClr val="FFF1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高</a:t>
                      </a:r>
                    </a:p>
                  </a:txBody>
                  <a:tcPr marL="91440" marR="91440" marT="45720" marB="45720">
                    <a:solidFill>
                      <a:srgbClr val="FFF1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actualTaskStatus=CONFIRMED</a:t>
                      </a:r>
                    </a:p>
                  </a:txBody>
                  <a:tcPr marL="91440" marR="91440" marT="45720" marB="45720">
                    <a:solidFill>
                      <a:srgbClr val="FFF1F0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t>D-002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Token 过期秒仍被接受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中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边界断言失败</a:t>
                      </a:r>
                    </a:p>
                  </a:txBody>
                  <a:tcPr marL="91440" marR="91440" marT="45720" marB="45720"/>
                </a:tc>
              </a:tr>
              <a:tr h="695325">
                <a:tc>
                  <a:txBody>
                    <a:bodyPr/>
                    <a:lstStyle/>
                    <a:p>
                      <a:r>
                        <a:t>D-003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文件哈希为空仍通过前置检查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高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空哈希前置检查通过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F6426-AEC1-48CE-9A6D-3EDB3793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106680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1F0"/>
          </a:solidFill>
          <a:ln xmlns:a="http://schemas.openxmlformats.org/drawingml/2006/main" w="9525">
            <a:solidFill>
              <a:srgbClr val="F7B2B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 i="0">
                <a:solidFill>
                  <a:srgbClr val="C92A2A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C92A2A"/>
                </a:solidFill>
                <a:latin typeface="Arial"/>
                <a:ea typeface="Arial"/>
                <a:cs typeface="Arial"/>
              </a:rPr>
              <a:t>三个缺陷均已确认、未修复、未关闭。</a:t>
            </a:r>
          </a:p>
          <a:p xmlns:a="http://schemas.openxmlformats.org/drawingml/2006/main">
            <a:pPr>
              <a:defRPr sz="1575" b="1" i="0">
                <a:solidFill>
                  <a:srgbClr val="C92A2A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C92A2A"/>
                </a:solidFill>
                <a:latin typeface="Arial"/>
                <a:ea typeface="Arial"/>
                <a:cs typeface="Arial"/>
              </a:rPr>
              <a:t>本页重点展开 D-001，下一页说明其状态判断问题。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942D68-68F3-4BE4-8E4D-DD0E3EFB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7C6E9-F6C9-43D4-99AC-7E894270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Software-Testing-Practice--Gray-Box-Group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4B89B3-04B6-4220-9EBD-AA244074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10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Zhu Jiacheng · Zhang Yang</a:t>
            </a:r>
          </a:p>
        </p:txBody>
      </p:sp>
    </p:spTree>
    <p:extLst>
      <p:ext uri="{BB962C8B-B14F-4D97-AF65-F5344CB8AC3E}">
        <p14:creationId xmlns:p14="http://schemas.microsoft.com/office/powerpoint/2010/main" val="18970323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36240B-7D63-45BB-8226-D9B8D811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模块一｜传统软件测试实践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6639B-2B69-47A0-905E-6C60C851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典型缺陷：D-001 状态判断不一致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D4F54-15B6-44DC-8C33-FA8B6DFB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E0E4FE-37CD-4F5C-B6A7-EF6B086A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3AEEB-419D-4B9B-84D4-8493433D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失败回执应该让任务进入 FAILED，但现有逻辑只依据目标交易标识确认任务。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1652E6-0E7F-4357-9847-BAECF131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2190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2A2A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目标链回执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8A162-DCCE-4A4A-A98D-42E1124B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21907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1F0"/>
          </a:solidFill>
          <a:ln xmlns:a="http://schemas.openxmlformats.org/drawingml/2006/main" w="9525">
            <a:solidFill>
              <a:srgbClr val="F7B2B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 i="0">
                <a:solidFill>
                  <a:srgbClr val="C92A2A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C92A2A"/>
                </a:solidFill>
                <a:latin typeface="Arial"/>
                <a:ea typeface="Arial"/>
                <a:cs typeface="Arial"/>
              </a:rPr>
              <a:t>FAILED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6402D-630C-4B16-8096-C955C15A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71750"/>
            <a:ext cx="2190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实际任务状态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DA1AB-9FD0-472E-B243-9380E051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295650"/>
            <a:ext cx="21907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8E1"/>
          </a:solidFill>
          <a:ln xmlns:a="http://schemas.openxmlformats.org/drawingml/2006/main" w="9525">
            <a:solidFill>
              <a:srgbClr val="F3D28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CONFIRMED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C648BA-B690-49BF-BDD2-C247C087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190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F6F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D-001 复现断言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DB52D7-3F80-4C4C-93C7-94B3A87F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95650"/>
            <a:ext cx="2952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1F0"/>
          </a:solidFill>
          <a:ln xmlns:a="http://schemas.openxmlformats.org/drawingml/2006/main" w="9525">
            <a:solidFill>
              <a:srgbClr val="F7B2B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C92A2A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C92A2A"/>
                </a:solidFill>
                <a:latin typeface="Arial"/>
                <a:ea typeface="Arial"/>
                <a:cs typeface="Arial"/>
              </a:rPr>
              <a:t>expected: FAILED</a:t>
            </a:r>
          </a:p>
          <a:p xmlns:a="http://schemas.openxmlformats.org/drawingml/2006/main">
            <a:pPr>
              <a:defRPr sz="1725" b="1" i="0">
                <a:solidFill>
                  <a:srgbClr val="C92A2A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C92A2A"/>
                </a:solidFill>
                <a:latin typeface="Arial"/>
                <a:ea typeface="Arial"/>
                <a:cs typeface="Arial"/>
              </a:rPr>
              <a:t>but was: CONFIRMED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D8C5C-A17D-4757-8B5F-BD4E5177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668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9E2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C92A2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C92A2A"/>
                </a:solidFill>
                <a:latin typeface="Arial"/>
                <a:ea typeface="Arial"/>
                <a:cs typeface="Arial"/>
              </a:rPr>
              <a:t>影响：任务状态与目标链实际结果不一致，后续查询和业务判断可能把失败任务当成成功任务。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745B1F-D034-4746-981E-B710A633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152FE3-ACF3-4F04-A9BF-19982F1E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Software-Testing-Practice--Gray-Box-Group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58F703-E889-406C-AE05-04398D87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10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Zhu Jiacheng · Zhang Yang</a:t>
            </a:r>
          </a:p>
        </p:txBody>
      </p:sp>
    </p:spTree>
    <p:extLst>
      <p:ext uri="{BB962C8B-B14F-4D97-AF65-F5344CB8AC3E}">
        <p14:creationId xmlns:p14="http://schemas.microsoft.com/office/powerpoint/2010/main" val="820891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DF33CE-DB39-420E-AD13-F2780447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模块一｜传统软件测试实践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EE7179-93AB-44C2-8792-B255FFE2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测试中的典型踩坑：D-003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951FAC-41A7-403F-A68C-06766977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34A4C-7B8E-4E3B-8A17-B2970C2E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10466-7FB9-4C29-ACE5-11826A58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文件对象存在，不等于文件完整性前提成立。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6E4247-A99E-42F2-8BD9-B53D43EE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190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输入条件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FAE5D-C382-40BF-85FF-7DEB0F50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2857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1F0"/>
          </a:solidFill>
          <a:ln xmlns:a="http://schemas.openxmlformats.org/drawingml/2006/main" w="9525">
            <a:solidFill>
              <a:srgbClr val="F7B2B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C92A2A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C92A2A"/>
                </a:solidFill>
                <a:latin typeface="Arial"/>
                <a:ea typeface="Arial"/>
                <a:cs typeface="Arial"/>
              </a:rPr>
              <a:t>fileHash = ""</a:t>
            </a:r>
          </a:p>
          <a:p xmlns:a="http://schemas.openxmlformats.org/drawingml/2006/main">
            <a:pPr>
              <a:defRPr sz="1875" b="1" i="0">
                <a:solidFill>
                  <a:srgbClr val="C92A2A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C92A2A"/>
                </a:solidFill>
                <a:latin typeface="Arial"/>
                <a:ea typeface="Arial"/>
                <a:cs typeface="Arial"/>
              </a:rPr>
              <a:t>encryptedFileHash = ""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74D7-C7AE-464A-8490-6BAA99CA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00300"/>
            <a:ext cx="2190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1F6F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前置检查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1B817-3A82-447C-BDBD-D38783CB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67050"/>
            <a:ext cx="2952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8E1"/>
          </a:solidFill>
          <a:ln xmlns:a="http://schemas.openxmlformats.org/drawingml/2006/main" w="9525">
            <a:solidFill>
              <a:srgbClr val="F3D28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仅判断 file 对象非空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AEACD3-A48C-4062-BE5D-A4D96DC8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00300"/>
            <a:ext cx="2190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92A2A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实际结果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7B4849-916D-47DB-864B-2F1B7203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67050"/>
            <a:ext cx="2952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1F0"/>
          </a:solidFill>
          <a:ln xmlns:a="http://schemas.openxmlformats.org/drawingml/2006/main" w="9525">
            <a:solidFill>
              <a:srgbClr val="F7B2B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C92A2A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C92A2A"/>
                </a:solidFill>
                <a:latin typeface="Arial"/>
                <a:ea typeface="Arial"/>
                <a:cs typeface="Arial"/>
              </a:rPr>
              <a:t>检查仍然通过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8BEAD8-351B-44D4-9EF9-B32BB1E5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668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B7E4D4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测试启示：完整性验证必须检查哈希值存在且有效，不能把对象非空当作内容有效。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A19A19-E26C-465E-9367-22A7A540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687C4C-6833-4280-A0B3-B7BE661B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Software-Testing-Practice--Gray-Box-Group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C0ACE2-2F24-4191-A537-7E9CAA7F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10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Zhu Jiacheng · Zhang Yang</a:t>
            </a:r>
          </a:p>
        </p:txBody>
      </p:sp>
    </p:spTree>
    <p:extLst>
      <p:ext uri="{BB962C8B-B14F-4D97-AF65-F5344CB8AC3E}">
        <p14:creationId xmlns:p14="http://schemas.microsoft.com/office/powerpoint/2010/main" val="21304514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85676-6BAC-451F-93C1-75A267F0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模块一｜传统软件测试实践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69B847-CA1D-45E4-9BFA-B2BC22BB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测试结论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56796-47A5-4ACD-B1DF-424916FF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DC756-CEFC-4604-AE1B-43092B0E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08A40-FF51-4F80-A843-81FAD0E4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常规自动化基线通过，异常探测仍发现状态一致性和前置检查缺陷。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B22A4-C1AD-4035-9B10-95A56EE3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BC96C1-6D9E-4ACF-A53C-D8E7365A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常规用例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109A29-3FAB-4085-A06B-F07095D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8125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 i="0">
                <a:solidFill>
                  <a:srgbClr val="087F5B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87F5B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4EC95-2BC7-4CD8-AFE5-B0E886A6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通过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F1CB3C-07A3-47F2-8EE0-AF7F2D56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38125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 i="0">
                <a:solidFill>
                  <a:srgbClr val="C92A2A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C92A2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B2D0FA-EC85-488C-8F38-F905AF49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已确认缺陷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68403D-B22F-4F48-AD3C-2E87275D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8125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E5713-228C-45CD-BC78-44051606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自动化率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AD3E52-B443-411A-829E-F0E0B16F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1F6FE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F6FEB"/>
                </a:solidFill>
                <a:latin typeface="Arial"/>
                <a:ea typeface="Arial"/>
                <a:cs typeface="Arial"/>
              </a:rPr>
              <a:t>结论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673713-6A1E-40CB-AD63-BB528B56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17195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72B4D"/>
                </a:solidFill>
                <a:latin typeface="Arial"/>
                <a:ea typeface="Arial"/>
                <a:cs typeface="Arial"/>
              </a:rPr>
              <a:t>本轮结果可以作为模块一测试基线。认证、授权和跨链正常路径符合预期；D-001、D-002、D-003 仍需后续修复和回归验证，当前不宜据此判定达到发布标准。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E830EB-5985-4060-A81A-18231BF9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4CCE2D-643C-47C4-A187-3BB5003D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03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Software-Testing-Practice--Gray-Box-Group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1D1178-776C-49EB-AA9C-91F050FC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10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 i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2606D"/>
                </a:solidFill>
                <a:latin typeface="Arial"/>
                <a:ea typeface="Arial"/>
                <a:cs typeface="Arial"/>
              </a:rPr>
              <a:t>Zhu Jiacheng · Zhang Yang</a:t>
            </a:r>
          </a:p>
        </p:txBody>
      </p:sp>
    </p:spTree>
    <p:extLst>
      <p:ext uri="{BB962C8B-B14F-4D97-AF65-F5344CB8AC3E}">
        <p14:creationId xmlns:p14="http://schemas.microsoft.com/office/powerpoint/2010/main" val="112039563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C5AF0-1A34-4895-90B1-2FB13496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85800"/>
            <a:ext cx="609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小组成员贡献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CD8228-4C76-46F6-83D1-E3B81FE2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990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B5D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CE3A82-5755-4103-A879-1CE607ED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106299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781050" y="2095500"/>
          <a:ext xmlns:a="http://schemas.openxmlformats.org/drawingml/2006/main" cx="106299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1714500"/>
                <a:gridCol w="6248400"/>
              </a:tblGrid>
              <a:tr h="730250">
                <a:tc>
                  <a:txBody>
                    <a:bodyPr/>
                    <a:lstStyle/>
                    <a:p>
                      <a:r>
                        <a:t>成员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贡献度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主要贡献</a:t>
                      </a:r>
                    </a:p>
                  </a:txBody>
                  <a:tcPr marL="91440" marR="91440" marT="45720" marB="45720"/>
                </a:tc>
              </a:tr>
              <a:tr h="730250">
                <a:tc>
                  <a:txBody>
                    <a:bodyPr/>
                    <a:lstStyle/>
                    <a:p>
                      <a:r>
                        <a:t>Zhu Jiacheng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70%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测试范围与策略、SUT 快照、32 条用例设计与自动化、常规测试执行、D-001/D-002 探测、文档整理</a:t>
                      </a:r>
                    </a:p>
                  </a:txBody>
                  <a:tcPr marL="91440" marR="91440" marT="45720" marB="45720"/>
                </a:tc>
              </a:tr>
              <a:tr h="730250">
                <a:tc>
                  <a:txBody>
                    <a:bodyPr/>
                    <a:lstStyle/>
                    <a:p>
                      <a:r>
                        <a:t>Zhang Yang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完成 PPT、参与部分代码优化、发现 D-003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516BB2-D3CC-4812-96A2-6550832A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23B5D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23B5D3"/>
                </a:solidFill>
                <a:latin typeface="Arial"/>
                <a:ea typeface="Arial"/>
                <a:cs typeface="Arial"/>
              </a:rPr>
              <a:t>谢谢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6B3D92-8802-41E1-BC6D-6932CE9B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 i="0">
                <a:solidFill>
                  <a:srgbClr val="B8C7D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B8C7D9"/>
                </a:solidFill>
                <a:latin typeface="Arial"/>
                <a:ea typeface="Arial"/>
                <a:cs typeface="Arial"/>
              </a:rPr>
              <a:t>测试工程、证据日志和正式文档均已纳入仓库 module1-basic-testing。</a:t>
            </a:r>
          </a:p>
        </p:txBody>
      </p:sp>
    </p:spTree>
    <p:extLst>
      <p:ext uri="{BB962C8B-B14F-4D97-AF65-F5344CB8AC3E}">
        <p14:creationId xmlns:p14="http://schemas.microsoft.com/office/powerpoint/2010/main" val="14699258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2026-09-13T14:21:18.3050000Z</dcterms:created>
  <dcterms:modified xsi:type="dcterms:W3CDTF">2026-09-13T14:21:18.3050000Z</dcterms:modified>
</coreProperties>
</file>