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用例数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1F6FEB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Data'!$A$2:$A$3</c:f>
              <c:strCache>
                <c:ptCount val="2"/>
                <c:pt idx="0">
                  <c:v>认证与访问控制</c:v>
                </c:pt>
                <c:pt idx="1">
                  <c:v>跨链任务状态控制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23</c:v>
                </c:pt>
                <c:pt idx="1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da06e72-2468-4f96-9b2d-8a212791e1a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项目名称与成员信息。内容依据课程要求和仓库中的模块一测试资料整理。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被测代码来源：module1-basic-testing/sut/README.md；核心功能描述来自被测项目现有代码和课程测试范围。系统真实页面功能在毕设系统视频中展示，课程项目负责自动化验证。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范围依据 module1-basic-testing/README.md、测试用例清单和测试报告。外部依赖 Mock 隔离，真实前端和真实 Fabric 网络不属于本轮自动化验证边界。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测试方法来源：module1-basic-testing/docs/test-cases.xlsx；策略说明与测试报告第 2、3 节一致。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来源：module1-basic-testing/docs/test-cases.xlsx。文件统计为 32 条用例，认证与访问控制 23 条，跨链任务状态控制 9 条；设计方法统计为等价类 22、边界值 3、场景法 6、状态转换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来源：module1-basic-testing/tests/pom.xml、tests/README.md 和 CrossChainServiceTest.java。代码结构和测试框架均来自仓库现有文件。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来源：module1-basic-testing/evidence/baseline-32.log。该日志记录 32 条常规自动化测试全部通过。终端区域依据真实日志中的 Maven 汇总信息整理。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来源：module1-basic-testing/evidence/defect-probes/D-001.log、D-002.log、D-003.log 及正式缺陷报告。D-003 的发现人为 Zhang Yang。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来源：D-001TargetFailureProbeTest.java 与 evidence/defect-probes/D-001.log。日志观察值为 actualTaskStatus=CONFIRMED actualReceiptStatus=FAILED，断言期望 FAILED。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来源：D003BlankHashProbeTest.java、D-003.log。D-003 由 Zhang Yang 发现；报告将其记录为已确认、未修复、未关闭。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成员贡献依据用户提供的分工要求：Zhu Jiacheng 70%，Zhang Yang 30%；Zhang Yang 主要完成 PPT、部分代码优化并发现 D-003。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781050" y="990600"/>
            <a:ext cx="1104900" cy="57150"/>
          </a:xfrm>
          <a:prstGeom prst="rect">
            <a:avLst/>
          </a:prstGeom>
          <a:solidFill>
            <a:srgbClr val="23B5D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333500"/>
            <a:ext cx="6858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 i="0">
                <a:solidFill>
                  <a:srgbClr val="B8E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i="0">
                <a:solidFill>
                  <a:srgbClr val="B8E8F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软件测试与质量保证实践</a:t>
            </a:r>
            <a:endParaRPr sz="1350" b="1" i="0">
              <a:solidFill>
                <a:srgbClr val="B8E8F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1828800"/>
            <a:ext cx="95250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6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国际联运单跨链协同平台</a:t>
            </a:r>
            <a:endParaRPr sz="360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272415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模块一成果汇报</a:t>
            </a:r>
            <a:endParaRPr sz="225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219700"/>
            <a:ext cx="381000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 i="0">
                <a:solidFill>
                  <a:srgbClr val="D9E2E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350" b="0" i="0">
              <a:solidFill>
                <a:srgbClr val="D9E2E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420620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 i="0">
                <a:solidFill>
                  <a:srgbClr val="9FB3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 i="0">
                <a:solidFill>
                  <a:srgbClr val="9FB3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认证与访问控制 · 跨链任务状态控制</a:t>
            </a:r>
            <a:endParaRPr sz="1125" b="0" i="0">
              <a:solidFill>
                <a:srgbClr val="9FB3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3724910"/>
            <a:ext cx="6191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Gray</a:t>
            </a:r>
            <a:r>
              <a:rPr lang="en-US"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Box</a:t>
            </a:r>
            <a:r>
              <a:rPr lang="en-US"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Group</a:t>
            </a:r>
            <a:endParaRPr sz="160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4436745"/>
            <a:ext cx="30099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朱佳诚</a:t>
            </a:r>
            <a:r>
              <a:rPr lang="en-US" altLang="zh-CN"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Zhu </a:t>
            </a:r>
            <a:r>
              <a:rPr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Jiacheng </a:t>
            </a:r>
            <a:endParaRPr sz="160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张阳</a:t>
            </a:r>
            <a:r>
              <a:rPr lang="en-US" altLang="zh-CN"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Zhang Yang</a:t>
            </a:r>
            <a:endParaRPr sz="160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被测对象与核心功能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被测对象是国际联运单跨链协同平台。本次展示关注用户进入系统后的身份建立、权限决策和跨链任务状态控制。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723900" y="2343150"/>
          <a:ext cx="7239000" cy="2476500"/>
        </p:xfrm>
        <a:graphic>
          <a:graphicData uri="http://schemas.openxmlformats.org/drawingml/2006/table">
            <a:tbl>
              <a:tblPr/>
              <a:tblGrid>
                <a:gridCol w="1428750"/>
                <a:gridCol w="5810250"/>
              </a:tblGrid>
              <a:tr h="619125">
                <a:tc>
                  <a:txBody>
                    <a:bodyPr/>
                    <a:lstStyle/>
                    <a:p>
                      <a:r>
                        <a:t>功能层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核心路径</a:t>
                      </a:r>
                    </a:p>
                  </a:txBody>
                  <a:tcPr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认证入口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登录、JWT 签发、Bearer 过滤、SecurityContext 建立</a:t>
                      </a:r>
                    </a:p>
                  </a:txBody>
                  <a:tcPr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访问控制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角色、组织与运单托运人关系决定访问是否允许</a:t>
                      </a:r>
                    </a:p>
                  </a:txBody>
                  <a:tcPr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跨链任务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前置检查、创建、执行、回执、核验、retry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圆角矩形 6"/>
          <p:cNvSpPr>
            <a:spLocks noGrp="1"/>
          </p:cNvSpPr>
          <p:nvPr/>
        </p:nvSpPr>
        <p:spPr>
          <a:xfrm>
            <a:off x="8477250" y="2400300"/>
            <a:ext cx="2857500" cy="1181100"/>
          </a:xfrm>
          <a:prstGeom prst="roundRect">
            <a:avLst>
              <a:gd name="adj" fmla="val 14516"/>
            </a:avLst>
          </a:prstGeom>
          <a:solidFill>
            <a:srgbClr val="F3F7FA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pPr>
              <a:def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被测软件</a:t>
            </a:r>
            <a:r>
              <a: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视频展示</a:t>
            </a:r>
            <a:endParaRPr sz="142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使用毕设视频中的登录、权限和跨链任务片段</a:t>
            </a:r>
            <a:endParaRPr sz="142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477250" y="3867150"/>
            <a:ext cx="2857500" cy="1181100"/>
          </a:xfrm>
          <a:prstGeom prst="roundRect">
            <a:avLst>
              <a:gd name="adj" fmla="val 14516"/>
            </a:avLst>
          </a:prstGeom>
          <a:solidFill>
            <a:srgbClr val="E8F5FA"/>
          </a:solidFill>
          <a:ln w="9525">
            <a:solidFill>
              <a:srgbClr val="B8E8F1"/>
            </a:solidFill>
          </a:ln>
        </p:spPr>
        <p:txBody>
          <a:bodyPr/>
          <a:lstStyle/>
          <a:p>
            <a:pPr>
              <a:def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测试工程展示</a:t>
            </a:r>
            <a:endParaRPr sz="142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对选定生产代码快照运行 JUnit 自动化测试</a:t>
            </a:r>
            <a:endParaRPr sz="142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测试范围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本轮测试选择可由服务层重复执行和稳定验证的关键业务规则。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723900" y="2095500"/>
          <a:ext cx="10668000" cy="2952750"/>
        </p:xfrm>
        <a:graphic>
          <a:graphicData uri="http://schemas.openxmlformats.org/drawingml/2006/table">
            <a:tbl>
              <a:tblPr/>
              <a:tblGrid>
                <a:gridCol w="2000250"/>
                <a:gridCol w="4286250"/>
                <a:gridCol w="4381500"/>
              </a:tblGrid>
              <a:tr h="590550">
                <a:tc>
                  <a:txBody>
                    <a:bodyPr/>
                    <a:lstStyle/>
                    <a:p>
                      <a:r>
                        <a:t>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验证内容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代表性结果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认证与访问控制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登录、JWT 签发与校验、非法/过期 Token、Bearer 过滤、角色与组织权限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 条用例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跨链任务状态控制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前置检查、任务创建、执行回执、失败处理、核验、retry 幂等性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 条用例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本轮未覆盖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前端 UI、真实 MySQL、真实 Fabric 网络、性能与渗透测试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不纳入常规自动化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验证边界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测试代码编译相邻 sut 快照，外部依赖通过 Mockito 隔离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无需启动完整网络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723900" y="54292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3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测试策略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传统测试方法先从需求和代码规则出发，再用自动化执行验证。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0100" y="211455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210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581150" y="21145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等价类</a:t>
            </a:r>
            <a:endParaRPr sz="18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714750" y="2143125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合法登录、未知用户、错误密码、无效 Token 等代表性输入</a:t>
            </a:r>
            <a:endParaRPr sz="142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581150" y="2667000"/>
            <a:ext cx="908685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00100" y="299085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210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581150" y="29908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边界值</a:t>
            </a:r>
            <a:endParaRPr sz="18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714750" y="3019425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过期时间前一秒、当前秒、后一秒；检查比较符号边界</a:t>
            </a:r>
            <a:endParaRPr sz="142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581150" y="3543300"/>
            <a:ext cx="908685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00100" y="386715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210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581150" y="38671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场景法</a:t>
            </a:r>
            <a:endParaRPr sz="18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714750" y="3895725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登录后访问受保护资源；创建任务后执行并核验状态</a:t>
            </a:r>
            <a:endParaRPr sz="142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581150" y="4419600"/>
            <a:ext cx="908685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00100" y="474345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210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581150" y="47434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状态转换</a:t>
            </a:r>
            <a:endParaRPr sz="18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3714750" y="4772025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CREATED / VERIFIED / CONFIRMED / FAILED，检查 retry 行为</a:t>
            </a:r>
            <a:endParaRPr sz="142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581150" y="5295900"/>
            <a:ext cx="908685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0100" y="565785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策略组合</a:t>
            </a:r>
            <a:endParaRPr sz="13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476500" y="56197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输入分类保证代表性，边界值抓临界判断，场景法覆盖业务链路，状态转换法检查任务状态的一致性。</a:t>
            </a:r>
            <a:endParaRPr sz="13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测试用例设计结果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 条用例覆盖两类关键规则，全部纳入自动化执行。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7" name="Chart"/>
          <p:cNvGraphicFramePr/>
          <p:nvPr/>
        </p:nvGraphicFramePr>
        <p:xfrm>
          <a:off x="723900" y="2095500"/>
          <a:ext cx="514350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8" name="表格 17"/>
          <p:cNvGraphicFramePr/>
          <p:nvPr/>
        </p:nvGraphicFramePr>
        <p:xfrm>
          <a:off x="6477000" y="2095500"/>
          <a:ext cx="4914900" cy="2952750"/>
        </p:xfrm>
        <a:graphic>
          <a:graphicData uri="http://schemas.openxmlformats.org/drawingml/2006/table">
            <a:tbl>
              <a:tblPr/>
              <a:tblGrid>
                <a:gridCol w="2000250"/>
                <a:gridCol w="1428750"/>
                <a:gridCol w="1485900"/>
              </a:tblGrid>
              <a:tr h="590550">
                <a:tc>
                  <a:txBody>
                    <a:bodyPr/>
                    <a:lstStyle/>
                    <a:p>
                      <a:r>
                        <a:t>设计方法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用例数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自动化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等价类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边界值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场景法 / 状态转换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合计</a:t>
                      </a:r>
                    </a:p>
                  </a:txBody>
                  <a:tcPr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32（100%）</a:t>
                      </a:r>
                    </a:p>
                  </a:txBody>
                  <a:tcPr>
                    <a:solidFill>
                      <a:srgbClr val="E8F7F1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723900" y="54673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数字来源：测试用例清单</a:t>
            </a:r>
            <a:r>
              <a:rPr lang="en-US" sz="12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lang="zh-CN" altLang="en-US" sz="12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</a:t>
            </a:r>
            <a:r>
              <a:rPr sz="12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Excel</a:t>
            </a:r>
            <a:endParaRPr sz="120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自动化测试实现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独立 Maven 工程直接编译相邻 sut 快照，测试代码使用 Mock 隔离外部依赖。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1907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JUnit 5</a:t>
            </a:r>
            <a:endParaRPr sz="19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876550" y="21907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Mockito</a:t>
            </a:r>
            <a:endParaRPr sz="19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876800" y="21907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23B5D3"/>
          </a:solidFill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Maven</a:t>
            </a:r>
            <a:endParaRPr sz="19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77050" y="21907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163B5C"/>
          </a:solidFill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选定 SUT</a:t>
            </a:r>
            <a:endParaRPr sz="19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877300" y="21907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E8F7F1"/>
          </a:solidFill>
          <a:ln w="9525">
            <a:solidFill>
              <a:srgbClr val="B7E4D4"/>
            </a:solidFill>
          </a:ln>
        </p:spPr>
        <p:txBody>
          <a:bodyPr/>
          <a:lstStyle/>
          <a:p>
            <a:pPr>
              <a:defRPr sz="1950" b="1" i="0">
                <a:solidFill>
                  <a:srgbClr val="087F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087F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 tests</a:t>
            </a:r>
            <a:endParaRPr sz="1950" b="1" i="0">
              <a:solidFill>
                <a:srgbClr val="087F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3333750"/>
            <a:ext cx="4000500" cy="1809750"/>
          </a:xfrm>
          <a:prstGeom prst="roundRect">
            <a:avLst>
              <a:gd name="adj" fmla="val 7368"/>
            </a:avLst>
          </a:prstGeom>
          <a:solidFill>
            <a:srgbClr val="F3F7FA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pPr>
              <a:def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module1-basic-testing/</a:t>
            </a:r>
            <a:endParaRPr sz="13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├── sut/src/main/java        被测代码快照</a:t>
            </a:r>
            <a:endParaRPr sz="13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├── tests/src/test/java      常规测试</a:t>
            </a:r>
            <a:endParaRPr sz="13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├── tests/src/defect-probes  缺陷探测</a:t>
            </a:r>
            <a:endParaRPr sz="13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└── evidence/                执行日志</a:t>
            </a:r>
            <a:endParaRPr sz="13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810250" y="333375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一次典型测试的四步</a:t>
            </a:r>
            <a:endParaRPr sz="15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810250" y="3752850"/>
            <a:ext cx="4572000" cy="1409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准备任务与 Mock 回执</a:t>
            </a:r>
            <a:endParaRPr sz="157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调用 execute 两次</a:t>
            </a:r>
            <a:endParaRPr sz="157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断言任务状态</a:t>
            </a:r>
            <a:endParaRPr sz="157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verify 目标链接收仅调用一次</a:t>
            </a:r>
            <a:endParaRPr sz="157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5562600"/>
            <a:ext cx="9620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外部 MySQL、当前用户、操作日志和 FabricGateway 均在服务边界 Mock。</a:t>
            </a:r>
            <a:endParaRPr sz="1275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自动化测试执行结果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3900" y="4857750"/>
            <a:ext cx="10477500" cy="774700"/>
          </a:xfrm>
          <a:prstGeom prst="roundRect">
            <a:avLst>
              <a:gd name="adj" fmla="val 23810"/>
            </a:avLst>
          </a:prstGeom>
          <a:solidFill>
            <a:srgbClr val="E8F7F1"/>
          </a:solidFill>
          <a:ln w="9525">
            <a:solidFill>
              <a:srgbClr val="B7E4D4"/>
            </a:solidFill>
          </a:ln>
        </p:spPr>
        <p:txBody>
          <a:bodyPr/>
          <a:lstStyle/>
          <a:p>
            <a:pPr>
              <a:def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认证与访问控制：23 条，23 条通过，0 条失败，通过率 100%；跨链任务状态控制：9 条，9 条通过，0 条失败，通过率 100%。汇总：常规自动化用例共 32 条，通过 32 条，失败 0 条，通过率 100%，自动化率 100%。</a:t>
            </a:r>
            <a:endParaRPr lang="zh-CN" altLang="en-US" sz="142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1495425"/>
            <a:ext cx="9204325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缺陷发现与证据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常规测试通过后，使用独立探测用例检查异常输入和失败回执。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723900" y="2095500"/>
          <a:ext cx="10668000" cy="2781300"/>
        </p:xfrm>
        <a:graphic>
          <a:graphicData uri="http://schemas.openxmlformats.org/drawingml/2006/table">
            <a:tbl>
              <a:tblPr/>
              <a:tblGrid>
                <a:gridCol w="1143000"/>
                <a:gridCol w="4191000"/>
                <a:gridCol w="2190750"/>
                <a:gridCol w="3143250"/>
              </a:tblGrid>
              <a:tr h="695325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现象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严重程度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证据</a:t>
                      </a:r>
                    </a:p>
                  </a:txBody>
                  <a:tcPr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D-001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目标链回执 FAILED，任务仍为 CONFIRMED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actualTaskStatus=CONFIRMED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D-002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过期秒仍被接受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边界断言失败</a:t>
                      </a:r>
                    </a:p>
                  </a:txBody>
                  <a:tcPr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D-003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文件哈希为空仍通过前置检查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空哈希前置检查通过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圆角矩形 6"/>
          <p:cNvSpPr>
            <a:spLocks noGrp="1"/>
          </p:cNvSpPr>
          <p:nvPr/>
        </p:nvSpPr>
        <p:spPr>
          <a:xfrm>
            <a:off x="723900" y="5334000"/>
            <a:ext cx="10668000" cy="552450"/>
          </a:xfrm>
          <a:prstGeom prst="roundRect">
            <a:avLst>
              <a:gd name="adj" fmla="val 17241"/>
            </a:avLst>
          </a:prstGeom>
          <a:solidFill>
            <a:srgbClr val="FFF1F0"/>
          </a:solidFill>
          <a:ln w="9525">
            <a:solidFill>
              <a:srgbClr val="F7B2B2"/>
            </a:solidFill>
          </a:ln>
        </p:spPr>
        <p:txBody>
          <a:bodyPr/>
          <a:lstStyle/>
          <a:p>
            <a:pPr>
              <a:defRPr sz="15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三个缺陷均已确认、未修复、未关闭。</a:t>
            </a:r>
            <a:endParaRPr sz="157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5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本页重点展开 D-001，下一页说明其状态判断问题。</a:t>
            </a:r>
            <a:endParaRPr sz="157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典型缺陷：D-001 状态判断不一致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失败回执应该让任务进入 FAILED，但现有逻辑只依据目标交易标识确认任务。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90600" y="2571750"/>
            <a:ext cx="2190750" cy="552450"/>
          </a:xfrm>
          <a:prstGeom prst="roundRect">
            <a:avLst>
              <a:gd name="adj" fmla="val 20690"/>
            </a:avLst>
          </a:prstGeom>
          <a:solidFill>
            <a:srgbClr val="C92A2A"/>
          </a:solidFill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目标链回执</a:t>
            </a:r>
            <a:endParaRPr sz="17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990600" y="3295650"/>
            <a:ext cx="2190750" cy="628650"/>
          </a:xfrm>
          <a:prstGeom prst="roundRect">
            <a:avLst>
              <a:gd name="adj" fmla="val 18182"/>
            </a:avLst>
          </a:prstGeom>
          <a:solidFill>
            <a:srgbClr val="FFF1F0"/>
          </a:solidFill>
          <a:ln w="9525">
            <a:solidFill>
              <a:srgbClr val="F7B2B2"/>
            </a:solidFill>
          </a:ln>
        </p:spPr>
        <p:txBody>
          <a:bodyPr/>
          <a:lstStyle/>
          <a:p>
            <a:pPr>
              <a:defRPr sz="2550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FAILED</a:t>
            </a:r>
            <a:endParaRPr sz="2550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724400" y="2571750"/>
            <a:ext cx="2190750" cy="552450"/>
          </a:xfrm>
          <a:prstGeom prst="roundRect">
            <a:avLst>
              <a:gd name="adj" fmla="val 20690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实际任务状态</a:t>
            </a:r>
            <a:endParaRPr sz="17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724400" y="3295650"/>
            <a:ext cx="2190750" cy="628650"/>
          </a:xfrm>
          <a:prstGeom prst="roundRect">
            <a:avLst>
              <a:gd name="adj" fmla="val 18182"/>
            </a:avLst>
          </a:prstGeom>
          <a:solidFill>
            <a:srgbClr val="FFF8E1"/>
          </a:solidFill>
          <a:ln w="9525">
            <a:solidFill>
              <a:srgbClr val="F3D28A"/>
            </a:solidFill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CONFIRMED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477250" y="2571750"/>
            <a:ext cx="2190750" cy="552450"/>
          </a:xfrm>
          <a:prstGeom prst="roundRect">
            <a:avLst>
              <a:gd name="adj" fmla="val 20690"/>
            </a:avLst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D-001 复现断言</a:t>
            </a:r>
            <a:endParaRPr sz="17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96250" y="3295650"/>
            <a:ext cx="2952750" cy="819150"/>
          </a:xfrm>
          <a:prstGeom prst="roundRect">
            <a:avLst>
              <a:gd name="adj" fmla="val 13953"/>
            </a:avLst>
          </a:prstGeom>
          <a:solidFill>
            <a:srgbClr val="FFF1F0"/>
          </a:solidFill>
          <a:ln w="9525">
            <a:solidFill>
              <a:srgbClr val="F7B2B2"/>
            </a:solidFill>
          </a:ln>
        </p:spPr>
        <p:txBody>
          <a:bodyPr/>
          <a:lstStyle/>
          <a:p>
            <a:pPr>
              <a:defRPr sz="172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expected: FAILED</a:t>
            </a:r>
            <a:endParaRPr sz="172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72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but was: CONFIRMED</a:t>
            </a:r>
            <a:endParaRPr sz="172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23900" y="4991100"/>
            <a:ext cx="10668000" cy="609600"/>
          </a:xfrm>
          <a:prstGeom prst="roundRect">
            <a:avLst>
              <a:gd name="adj" fmla="val 15625"/>
            </a:avLst>
          </a:prstGeom>
          <a:solidFill>
            <a:srgbClr val="F3F7FA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pPr>
              <a:defRPr sz="1500" b="0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影响：任务状态与目标链实际结果不一致，后续查询和业务判断可能把失败任务当成成功任务。</a:t>
            </a:r>
            <a:endParaRPr sz="1500" b="0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测试中的典型踩坑：D-003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文件对象存在，不等于文件完整性前提成立。</a:t>
            </a:r>
            <a:endParaRPr sz="187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52500" y="2400300"/>
            <a:ext cx="2190750" cy="476250"/>
          </a:xfrm>
          <a:prstGeom prst="roundRect">
            <a:avLst>
              <a:gd name="adj" fmla="val 24000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输入条件</a:t>
            </a:r>
            <a:endParaRPr sz="16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952500" y="3067050"/>
            <a:ext cx="2857500" cy="1009650"/>
          </a:xfrm>
          <a:prstGeom prst="roundRect">
            <a:avLst>
              <a:gd name="adj" fmla="val 11321"/>
            </a:avLst>
          </a:prstGeom>
          <a:solidFill>
            <a:srgbClr val="FFF1F0"/>
          </a:solidFill>
          <a:ln w="9525">
            <a:solidFill>
              <a:srgbClr val="F7B2B2"/>
            </a:solidFill>
          </a:ln>
        </p:spPr>
        <p:txBody>
          <a:bodyPr/>
          <a:lstStyle/>
          <a:p>
            <a:pPr>
              <a:def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fileHash = ""</a:t>
            </a:r>
            <a:endParaRPr sz="187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encryptedFileHash = ""</a:t>
            </a:r>
            <a:endParaRPr sz="187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838700" y="2400300"/>
            <a:ext cx="2190750" cy="476250"/>
          </a:xfrm>
          <a:prstGeom prst="roundRect">
            <a:avLst>
              <a:gd name="adj" fmla="val 24000"/>
            </a:avLst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前置检查</a:t>
            </a:r>
            <a:endParaRPr sz="16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476750" y="3067050"/>
            <a:ext cx="2952750" cy="1009650"/>
          </a:xfrm>
          <a:prstGeom prst="roundRect">
            <a:avLst>
              <a:gd name="adj" fmla="val 11321"/>
            </a:avLst>
          </a:prstGeom>
          <a:solidFill>
            <a:srgbClr val="FFF8E1"/>
          </a:solidFill>
          <a:ln w="9525">
            <a:solidFill>
              <a:srgbClr val="F3D28A"/>
            </a:solidFill>
          </a:ln>
        </p:spPr>
        <p:txBody>
          <a:bodyPr/>
          <a:lstStyle/>
          <a:p>
            <a:pPr>
              <a:defRPr sz="187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仅判断 file 对象非空</a:t>
            </a:r>
            <a:endParaRPr sz="187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24900" y="2400300"/>
            <a:ext cx="2190750" cy="476250"/>
          </a:xfrm>
          <a:prstGeom prst="roundRect">
            <a:avLst>
              <a:gd name="adj" fmla="val 24000"/>
            </a:avLst>
          </a:prstGeom>
          <a:solidFill>
            <a:srgbClr val="C92A2A"/>
          </a:solidFill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实际结果</a:t>
            </a:r>
            <a:endParaRPr sz="16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62950" y="3067050"/>
            <a:ext cx="2952750" cy="1009650"/>
          </a:xfrm>
          <a:prstGeom prst="roundRect">
            <a:avLst>
              <a:gd name="adj" fmla="val 11321"/>
            </a:avLst>
          </a:prstGeom>
          <a:solidFill>
            <a:srgbClr val="FFF1F0"/>
          </a:solidFill>
          <a:ln w="9525">
            <a:solidFill>
              <a:srgbClr val="F7B2B2"/>
            </a:solidFill>
          </a:ln>
        </p:spPr>
        <p:txBody>
          <a:bodyPr/>
          <a:lstStyle/>
          <a:p>
            <a:pPr>
              <a:def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检查仍然通过</a:t>
            </a:r>
            <a:endParaRPr sz="187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23900" y="4991100"/>
            <a:ext cx="10668000" cy="609600"/>
          </a:xfrm>
          <a:prstGeom prst="roundRect">
            <a:avLst>
              <a:gd name="adj" fmla="val 15625"/>
            </a:avLst>
          </a:prstGeom>
          <a:solidFill>
            <a:srgbClr val="E8F7F1"/>
          </a:solidFill>
          <a:ln w="9525">
            <a:solidFill>
              <a:srgbClr val="B7E4D4"/>
            </a:solidFill>
          </a:ln>
        </p:spPr>
        <p:txBody>
          <a:bodyPr/>
          <a:lstStyle/>
          <a:p>
            <a:pPr>
              <a:def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测试启示：完整性验证必须检查哈希值存在且有效，不能把对象非空当作内容有效。</a:t>
            </a:r>
            <a:endParaRPr sz="157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781050" y="685800"/>
            <a:ext cx="6096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25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858895" y="2924810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225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谢谢</a:t>
            </a:r>
            <a:r>
              <a:rPr lang="en-US" sz="36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!</a:t>
            </a:r>
            <a:endParaRPr lang="en-US" sz="360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582930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 i="0">
                <a:solidFill>
                  <a:srgbClr val="B8C7D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275" b="0" i="0">
              <a:solidFill>
                <a:srgbClr val="B8C7D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2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3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4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5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6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7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8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9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10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11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12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13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14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ags/tag15.xml><?xml version="1.0" encoding="utf-8"?>
<p:tagLst xmlns:p="http://schemas.openxmlformats.org/presentationml/2006/main">
  <p:tag name="KSO_WM_DIAGRAM_VIRTUALLY_FRAME" val="{&quot;height&quot;:243,&quot;left&quot;:63,&quot;top&quot;:166.5,&quot;width&quot;:777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1980</Words>
  <Application>WPS 演示</Application>
  <PresentationFormat>Converted Presentation</PresentationFormat>
  <Paragraphs>289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WPS_1662354340</cp:lastModifiedBy>
  <cp:revision>5</cp:revision>
  <dcterms:created xsi:type="dcterms:W3CDTF">2026-09-13T14:29:00Z</dcterms:created>
  <dcterms:modified xsi:type="dcterms:W3CDTF">2026-09-14T15:47:03Z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CF0D110CD4484D2B851256F215B2B15B_12</vt:lpwstr>
  </property>
  <property fmtid="{D5CDD505-2E9C-101B-9397-08002B2CF9AE}" pid="3" name="KSOProductBuildVer">
    <vt:lpwstr>2052-12.1.0.28505</vt:lpwstr>
  </property>
</Properties>
</file>